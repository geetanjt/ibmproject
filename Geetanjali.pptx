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62" r:id="rId9"/>
    <p:sldId id="264" r:id="rId10"/>
    <p:sldId id="278" r:id="rId11"/>
    <p:sldId id="286" r:id="rId12"/>
    <p:sldId id="28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107" d="100"/>
          <a:sy n="107" d="100"/>
        </p:scale>
        <p:origin x="7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LangFlow”</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897222635"/>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Faculty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lang="en-US" dirty="0"/>
                    </a:p>
                    <a:p>
                      <a:pPr marL="0" marR="0" lvl="0" indent="0" algn="ctr" rtl="0">
                        <a:spcBef>
                          <a:spcPts val="0"/>
                        </a:spcBef>
                        <a:spcAft>
                          <a:spcPts val="0"/>
                        </a:spcAft>
                        <a:buNone/>
                      </a:pPr>
                      <a:r>
                        <a:rPr lang="en-IN" dirty="0"/>
                        <a:t>Ms. Geetanjali</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a:p>
                    <a:p>
                      <a:pPr marL="0" marR="0" lvl="0" indent="0" algn="ctr" rtl="0">
                        <a:spcBef>
                          <a:spcPts val="0"/>
                        </a:spcBef>
                        <a:spcAft>
                          <a:spcPts val="0"/>
                        </a:spcAft>
                        <a:buNone/>
                      </a:pPr>
                      <a:r>
                        <a:rPr lang="en-IN" dirty="0"/>
                        <a:t>git101288@gmail.com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a:p>
                    <a:p>
                      <a:pPr marL="0" marR="0" lvl="0" indent="0" algn="ctr" rtl="0">
                        <a:spcBef>
                          <a:spcPts val="0"/>
                        </a:spcBef>
                        <a:spcAft>
                          <a:spcPts val="0"/>
                        </a:spcAft>
                        <a:buNone/>
                      </a:pPr>
                      <a:r>
                        <a:rPr lang="en-IN" dirty="0"/>
                        <a:t>8394922297</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[Agriculture]</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[Agri Doctor Agent]</a:t>
            </a:r>
            <a:endParaRPr lang="en-IN" sz="24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0" y="1234440"/>
            <a:ext cx="12192000" cy="5047536"/>
          </a:xfrm>
          <a:prstGeom prst="rect">
            <a:avLst/>
          </a:prstGeom>
          <a:noFill/>
        </p:spPr>
        <p:txBody>
          <a:bodyPr wrap="square" rtlCol="0">
            <a:spAutoFit/>
          </a:bodyPr>
          <a:lstStyle/>
          <a:p>
            <a:pPr fontAlgn="base"/>
            <a:r>
              <a:rPr lang="en-US" b="1" dirty="0"/>
              <a:t>Problem Statement : </a:t>
            </a:r>
            <a:r>
              <a:rPr lang="en-IN" dirty="0"/>
              <a:t>Agri Doctor Agent</a:t>
            </a:r>
          </a:p>
          <a:p>
            <a:pPr fontAlgn="base"/>
            <a:endParaRPr lang="en-US" b="1" dirty="0"/>
          </a:p>
          <a:p>
            <a:pPr fontAlgn="base"/>
            <a:r>
              <a:rPr lang="en-US" b="1" dirty="0"/>
              <a:t>The Challenge</a:t>
            </a:r>
            <a:r>
              <a:rPr lang="en-US" dirty="0"/>
              <a:t> </a:t>
            </a:r>
          </a:p>
          <a:p>
            <a:pPr algn="just" fontAlgn="base"/>
            <a:r>
              <a:rPr lang="en-US" dirty="0">
                <a:latin typeface="Times New Roman" panose="02020603050405020304" pitchFamily="18" charset="0"/>
                <a:cs typeface="Times New Roman" panose="02020603050405020304" pitchFamily="18" charset="0"/>
              </a:rPr>
              <a:t>Agriculture is the backbone of food security, yet farmers often struggle with crop diseases, soil health management, pest infestations, and unpredictable weather conditions. Reliable agricultural knowledge is scattered across sources and often inaccessible in real time. Without timely, personalized guidance, farmers may face reduced yields, crop losses, and inefficient resource use. Many lack access to expert agronomists, making it difficult to make informed decisions on crop care and farm management.</a:t>
            </a:r>
          </a:p>
          <a:p>
            <a:pPr fontAlgn="base"/>
            <a:endParaRPr lang="en-US" b="1" dirty="0"/>
          </a:p>
          <a:p>
            <a:pPr fontAlgn="base"/>
            <a:r>
              <a:rPr lang="en-US" b="1" dirty="0"/>
              <a:t>The Objective</a:t>
            </a:r>
            <a:r>
              <a:rPr lang="en-US" dirty="0"/>
              <a:t> </a:t>
            </a:r>
          </a:p>
          <a:p>
            <a:r>
              <a:rPr lang="en-US" dirty="0"/>
              <a:t>Build an </a:t>
            </a:r>
            <a:r>
              <a:rPr lang="en-US" b="1" dirty="0"/>
              <a:t>AI-powered Agri Doctor Agent</a:t>
            </a:r>
            <a:r>
              <a:rPr lang="en-US" dirty="0"/>
              <a:t> that delivers </a:t>
            </a:r>
            <a:r>
              <a:rPr lang="en-US" b="1" dirty="0"/>
              <a:t>personalized, real-time agricultural insights and guidance</a:t>
            </a:r>
            <a:r>
              <a:rPr lang="en-US" dirty="0"/>
              <a:t> for farmers, agronomists, and agricultural stakeholders. The solution should:</a:t>
            </a:r>
          </a:p>
          <a:p>
            <a:pPr>
              <a:buFont typeface="Arial" panose="020B0604020202020204" pitchFamily="34" charset="0"/>
              <a:buChar char="•"/>
            </a:pPr>
            <a:r>
              <a:rPr lang="en-US" b="1" dirty="0"/>
              <a:t>Personalized Crop Advisory</a:t>
            </a:r>
            <a:r>
              <a:rPr lang="en-US" dirty="0"/>
              <a:t> – Recommend crop selection, fertilizers, irrigation, and treatment plans based on soil type, weather, region, and crop stage. </a:t>
            </a:r>
          </a:p>
          <a:p>
            <a:pPr>
              <a:buFont typeface="Arial" panose="020B0604020202020204" pitchFamily="34" charset="0"/>
              <a:buChar char="•"/>
            </a:pPr>
            <a:r>
              <a:rPr lang="en-US" b="1" dirty="0"/>
              <a:t>Agricultural Data RAG Retrieval</a:t>
            </a:r>
            <a:r>
              <a:rPr lang="en-US" dirty="0"/>
              <a:t> – Fetch and summarize reliable data on crop diseases, pest control, soil nutrients, and best farming practices. </a:t>
            </a:r>
          </a:p>
          <a:p>
            <a:pPr>
              <a:buFont typeface="Arial" panose="020B0604020202020204" pitchFamily="34" charset="0"/>
              <a:buChar char="•"/>
            </a:pPr>
            <a:r>
              <a:rPr lang="en-US" b="1" dirty="0"/>
              <a:t>Farm Monitoring &amp; Feedback</a:t>
            </a:r>
            <a:r>
              <a:rPr lang="en-US" dirty="0"/>
              <a:t> – Allow users to log crop conditions via text, images, or voice and receive instant diagnosis and treatment suggestions. </a:t>
            </a:r>
          </a:p>
          <a:p>
            <a:pPr>
              <a:buFont typeface="Arial" panose="020B0604020202020204" pitchFamily="34" charset="0"/>
              <a:buChar char="•"/>
            </a:pPr>
            <a:r>
              <a:rPr lang="en-US" b="1" dirty="0"/>
              <a:t>Preventive Farming Focus</a:t>
            </a:r>
            <a:r>
              <a:rPr lang="en-US" dirty="0"/>
              <a:t> – Provide proactive recommendations for disease prevention, pest management, and climate-resilient farming practices. </a:t>
            </a:r>
          </a:p>
          <a:p>
            <a:pPr>
              <a:buFont typeface="Arial" panose="020B0604020202020204" pitchFamily="34" charset="0"/>
              <a:buChar char="•"/>
            </a:pPr>
            <a:r>
              <a:rPr lang="en-US" b="1" dirty="0"/>
              <a:t>Multi-Agent System</a:t>
            </a:r>
            <a:r>
              <a:rPr lang="en-US" dirty="0"/>
              <a:t> – </a:t>
            </a:r>
          </a:p>
          <a:p>
            <a:pPr marL="742950" lvl="1" indent="-285750">
              <a:buFont typeface="Arial" panose="020B0604020202020204" pitchFamily="34" charset="0"/>
              <a:buChar char="•"/>
            </a:pPr>
            <a:r>
              <a:rPr lang="en-US" b="1" dirty="0"/>
              <a:t>Crop Knowledge Agent</a:t>
            </a:r>
            <a:r>
              <a:rPr lang="en-US" dirty="0"/>
              <a:t> (fetches agricultural and crop data) </a:t>
            </a:r>
          </a:p>
          <a:p>
            <a:pPr marL="742950" lvl="1" indent="-285750">
              <a:buFont typeface="Arial" panose="020B0604020202020204" pitchFamily="34" charset="0"/>
              <a:buChar char="•"/>
            </a:pPr>
            <a:r>
              <a:rPr lang="en-US" b="1" dirty="0"/>
              <a:t>Advisory Agent</a:t>
            </a:r>
            <a:r>
              <a:rPr lang="en-US" dirty="0"/>
              <a:t> (provides personalized farming recommendations) </a:t>
            </a:r>
          </a:p>
          <a:p>
            <a:pPr marL="742950" lvl="1" indent="-285750">
              <a:buFont typeface="Arial" panose="020B0604020202020204" pitchFamily="34" charset="0"/>
              <a:buChar char="•"/>
            </a:pPr>
            <a:r>
              <a:rPr lang="en-US" b="1" dirty="0"/>
              <a:t>Plant Health Agent</a:t>
            </a:r>
            <a:r>
              <a:rPr lang="en-US" dirty="0"/>
              <a:t> (diagnoses diseases and suggests treatments) </a:t>
            </a:r>
          </a:p>
          <a:p>
            <a:pPr marL="742950" lvl="1" indent="-285750">
              <a:buFont typeface="Arial" panose="020B0604020202020204" pitchFamily="34" charset="0"/>
              <a:buChar char="•"/>
            </a:pPr>
            <a:r>
              <a:rPr lang="en-US" b="1" dirty="0"/>
              <a:t>Farm Log &amp; Feedback Agent</a:t>
            </a:r>
            <a:r>
              <a:rPr lang="en-US" dirty="0"/>
              <a:t> (tracks farm activities and analyzes outcomes) </a:t>
            </a:r>
          </a:p>
          <a:p>
            <a:pPr>
              <a:buFont typeface="Arial" panose="020B0604020202020204" pitchFamily="34" charset="0"/>
              <a:buChar char="•"/>
            </a:pPr>
            <a:r>
              <a:rPr lang="en-US" b="1" dirty="0"/>
              <a:t>Visualization Dashboard</a:t>
            </a:r>
            <a:r>
              <a:rPr lang="en-US" dirty="0"/>
              <a:t> – Display crop health trends, soil condition insights, weather impact analysis, and farm productivity over time.</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85800" y="1165753"/>
            <a:ext cx="10607040" cy="2246769"/>
          </a:xfrm>
          <a:prstGeom prst="rect">
            <a:avLst/>
          </a:prstGeom>
          <a:noFill/>
        </p:spPr>
        <p:txBody>
          <a:bodyPr wrap="square" rtlCol="0">
            <a:spAutoFit/>
          </a:bodyPr>
          <a:lstStyle/>
          <a:p>
            <a:pPr fontAlgn="base"/>
            <a:endParaRPr lang="en-US" b="1" dirty="0"/>
          </a:p>
          <a:p>
            <a:pPr fontAlgn="base"/>
            <a:r>
              <a:rPr lang="en-IN" b="1" dirty="0"/>
              <a:t>Tech Stack (Mandatory)</a:t>
            </a:r>
          </a:p>
          <a:p>
            <a:pPr fontAlgn="base"/>
            <a:r>
              <a:rPr lang="en-IN" dirty="0"/>
              <a:t> </a:t>
            </a:r>
          </a:p>
          <a:p>
            <a:pPr marL="285750" indent="-285750" fontAlgn="base">
              <a:buFont typeface="Arial" panose="020B0604020202020204" pitchFamily="34" charset="0"/>
              <a:buChar char="•"/>
            </a:pPr>
            <a:r>
              <a:rPr lang="en-IN" dirty="0"/>
              <a:t>LangFlow + IBM watsonx.ai + Granite Models </a:t>
            </a:r>
          </a:p>
          <a:p>
            <a:pPr marL="285750" indent="-285750" fontAlgn="base">
              <a:buFont typeface="Arial" panose="020B0604020202020204" pitchFamily="34" charset="0"/>
              <a:buChar char="•"/>
            </a:pPr>
            <a:endParaRPr lang="en-IN" dirty="0"/>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782260" y="1585475"/>
            <a:ext cx="11248374" cy="4832092"/>
          </a:xfrm>
          <a:prstGeom prst="rect">
            <a:avLst/>
          </a:prstGeom>
          <a:noFill/>
        </p:spPr>
        <p:txBody>
          <a:bodyPr wrap="square" rtlCol="0">
            <a:spAutoFit/>
          </a:bodyPr>
          <a:lstStyle/>
          <a:p>
            <a:pPr algn="just"/>
            <a:r>
              <a:rPr lang="en-US" dirty="0"/>
              <a:t>The proposed solution is a </a:t>
            </a:r>
            <a:r>
              <a:rPr lang="en-US" b="1" dirty="0"/>
              <a:t>multi-agent, AI-powered “Agri Doctor</a:t>
            </a:r>
            <a:r>
              <a:rPr lang="en-US" dirty="0"/>
              <a:t>” system designed using </a:t>
            </a:r>
            <a:r>
              <a:rPr lang="en-US" b="1" dirty="0" err="1"/>
              <a:t>LangFlow</a:t>
            </a:r>
            <a:r>
              <a:rPr lang="en-US" b="1" dirty="0"/>
              <a:t>, IBM watsonx.ai, and Granite models </a:t>
            </a:r>
            <a:r>
              <a:rPr lang="en-US" dirty="0"/>
              <a:t>to deliver personalized, real-time agricultural support. It tackles key farming challenges such as crop management, pest detection, </a:t>
            </a:r>
            <a:r>
              <a:rPr lang="en-US" b="1" dirty="0"/>
              <a:t>soil health monitoring, and preventive advisory</a:t>
            </a:r>
            <a:r>
              <a:rPr lang="en-US" dirty="0"/>
              <a:t> through a modular and intelligent architecture.</a:t>
            </a:r>
          </a:p>
          <a:p>
            <a:pPr algn="just"/>
            <a:r>
              <a:rPr lang="en-US" dirty="0"/>
              <a:t>The system consists of four key agents:</a:t>
            </a:r>
          </a:p>
          <a:p>
            <a:pPr algn="just"/>
            <a:endParaRPr lang="en-US" dirty="0"/>
          </a:p>
          <a:p>
            <a:pPr algn="just"/>
            <a:r>
              <a:rPr lang="en-US" b="1" dirty="0"/>
              <a:t>1. Crop Knowledge Agent</a:t>
            </a:r>
            <a:r>
              <a:rPr lang="en-US" dirty="0"/>
              <a:t> retrieves and summarizes agricultural information using RAG, including crop cultivation practices, pest and disease management, irrigation methods, and fertilizer usage.</a:t>
            </a:r>
          </a:p>
          <a:p>
            <a:pPr algn="just"/>
            <a:r>
              <a:rPr lang="en-US" b="1" dirty="0"/>
              <a:t>2. Smart Advisory Agent</a:t>
            </a:r>
            <a:r>
              <a:rPr lang="en-US" dirty="0"/>
              <a:t> generates personalized farming recommendations based on user inputs such as crop type, soil condition, season, location, and farming goals, helping farmers optimize productivity and reduce risks.</a:t>
            </a:r>
          </a:p>
          <a:p>
            <a:pPr algn="just"/>
            <a:r>
              <a:rPr lang="en-US" b="1" dirty="0"/>
              <a:t>3.Plant Health Diagnostic Agent</a:t>
            </a:r>
            <a:r>
              <a:rPr lang="en-US" dirty="0"/>
              <a:t> provides preventive and corrective solutions by diagnosing crop diseases and pest attacks through text, voice, or image inputs, offering treatment suggestions and sustainable farming practices.</a:t>
            </a:r>
          </a:p>
          <a:p>
            <a:pPr algn="just"/>
            <a:r>
              <a:rPr lang="en-US" b="1" dirty="0"/>
              <a:t>4. Farm Log &amp; Feedback Agent</a:t>
            </a:r>
            <a:r>
              <a:rPr lang="en-US" dirty="0"/>
              <a:t> allows farmers to record activities such as sowing, irrigation, fertilizer application, and crop observations, while delivering real-time analysis, alerts, and actionable feedback for improved farm management.</a:t>
            </a:r>
          </a:p>
          <a:p>
            <a:pPr algn="just"/>
            <a:endParaRPr lang="en-US" dirty="0"/>
          </a:p>
          <a:p>
            <a:pPr algn="just"/>
            <a:r>
              <a:rPr lang="en-US" dirty="0"/>
              <a:t>The solution includes a </a:t>
            </a:r>
            <a:r>
              <a:rPr lang="en-US" b="1" dirty="0"/>
              <a:t>user-friendly dashboard</a:t>
            </a:r>
            <a:r>
              <a:rPr lang="en-US" dirty="0"/>
              <a:t> that visualizes crop health status, weather forecasts, soil nutrient levels, pest alerts, and farm progress, enabling data-driven decision-making.</a:t>
            </a:r>
          </a:p>
          <a:p>
            <a:pPr algn="just"/>
            <a:endParaRPr lang="en-US" b="1" dirty="0"/>
          </a:p>
          <a:p>
            <a:r>
              <a:rPr lang="en-US" dirty="0" err="1"/>
              <a:t>LangFlow</a:t>
            </a:r>
            <a:r>
              <a:rPr lang="en-US" dirty="0"/>
              <a:t> manages the orchestration of agent workflows, while IBM watsonx.ai ensures scalable deployment, embeddings, and governance of AI models. Granite models drive the system’s reasoning, diagnostics, summarization, and personalization capabilities.</a:t>
            </a:r>
          </a:p>
          <a:p>
            <a:r>
              <a:rPr lang="en-US" dirty="0"/>
              <a:t>Overall, this solution delivers a comprehensive AI-driven Agri Doctor Assistant that supports sustainable farming through proactive monitoring, early disease detection, and customized agricultural guidance.</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1" y="863187"/>
            <a:ext cx="10892425" cy="7201972"/>
          </a:xfrm>
          <a:prstGeom prst="rect">
            <a:avLst/>
          </a:prstGeom>
          <a:noFill/>
        </p:spPr>
        <p:txBody>
          <a:bodyPr wrap="square" rtlCol="0">
            <a:spAutoFit/>
          </a:bodyPr>
          <a:lstStyle/>
          <a:p>
            <a:endParaRPr lang="en-US" dirty="0"/>
          </a:p>
          <a:p>
            <a:r>
              <a:rPr lang="en-US" b="1" dirty="0"/>
              <a:t>1) Chat Input</a:t>
            </a:r>
          </a:p>
          <a:p>
            <a:r>
              <a:rPr lang="en-US" b="1" dirty="0"/>
              <a:t>Interface where farmers/users enter their queries, such as:</a:t>
            </a:r>
          </a:p>
          <a:p>
            <a:endParaRPr lang="en-US" b="1" dirty="0"/>
          </a:p>
          <a:p>
            <a:r>
              <a:rPr lang="en-US" b="1" dirty="0"/>
              <a:t>Crop type</a:t>
            </a:r>
          </a:p>
          <a:p>
            <a:r>
              <a:rPr lang="en-US" b="1" dirty="0"/>
              <a:t>Soil </a:t>
            </a:r>
            <a:r>
              <a:rPr lang="en-US" b="1" dirty="0" err="1"/>
              <a:t>condition,Weather</a:t>
            </a:r>
            <a:r>
              <a:rPr lang="en-US" b="1" dirty="0"/>
              <a:t> details and Plant disease images or descriptions (text/voice/image)</a:t>
            </a:r>
          </a:p>
          <a:p>
            <a:endParaRPr lang="en-US" b="1" dirty="0"/>
          </a:p>
          <a:p>
            <a:r>
              <a:rPr lang="en-US" b="1" dirty="0"/>
              <a:t>2) IBM </a:t>
            </a:r>
            <a:r>
              <a:rPr lang="en-US" b="1" dirty="0" err="1"/>
              <a:t>watsonx</a:t>
            </a:r>
            <a:r>
              <a:rPr lang="en-US" b="1" dirty="0"/>
              <a:t> AI Agent</a:t>
            </a:r>
          </a:p>
          <a:p>
            <a:r>
              <a:rPr lang="en-US" b="1" dirty="0"/>
              <a:t>Processes user input using Granite models to generate intelligent agricultural insights, including:</a:t>
            </a:r>
          </a:p>
          <a:p>
            <a:endParaRPr lang="en-US" b="1" dirty="0"/>
          </a:p>
          <a:p>
            <a:r>
              <a:rPr lang="en-US" b="1" dirty="0"/>
              <a:t>Crop recommendations</a:t>
            </a:r>
          </a:p>
          <a:p>
            <a:r>
              <a:rPr lang="en-US" b="1" dirty="0"/>
              <a:t>Disease </a:t>
            </a:r>
            <a:r>
              <a:rPr lang="en-US" b="1" dirty="0" err="1"/>
              <a:t>diagnosis,Fertilizer</a:t>
            </a:r>
            <a:r>
              <a:rPr lang="en-US" b="1" dirty="0"/>
              <a:t> suggestions </a:t>
            </a:r>
            <a:r>
              <a:rPr lang="en-US" b="1" dirty="0" err="1"/>
              <a:t>andIrrigation</a:t>
            </a:r>
            <a:r>
              <a:rPr lang="en-US" b="1" dirty="0"/>
              <a:t> planning</a:t>
            </a:r>
          </a:p>
          <a:p>
            <a:endParaRPr lang="en-US" b="1" dirty="0"/>
          </a:p>
          <a:p>
            <a:r>
              <a:rPr lang="en-US" b="1" dirty="0"/>
              <a:t>3) IBM Granite Model Name</a:t>
            </a:r>
          </a:p>
          <a:p>
            <a:r>
              <a:rPr lang="en-US" b="1" dirty="0"/>
              <a:t>Granite-4.0-4h</a:t>
            </a:r>
          </a:p>
          <a:p>
            <a:endParaRPr lang="en-US" b="1" dirty="0"/>
          </a:p>
          <a:p>
            <a:r>
              <a:rPr lang="en-US" b="1" dirty="0"/>
              <a:t>Foundation model used for understanding agricultural queries</a:t>
            </a:r>
          </a:p>
          <a:p>
            <a:r>
              <a:rPr lang="en-US" b="1" dirty="0"/>
              <a:t>Provides accurate, context-aware responses</a:t>
            </a:r>
          </a:p>
          <a:p>
            <a:endParaRPr lang="en-US" b="1" dirty="0"/>
          </a:p>
          <a:p>
            <a:r>
              <a:rPr lang="en-US" b="1" dirty="0"/>
              <a:t>4) Chat Output</a:t>
            </a:r>
          </a:p>
          <a:p>
            <a:r>
              <a:rPr lang="en-US" b="1" dirty="0"/>
              <a:t>Displays AI-generated agricultural responses such as:</a:t>
            </a:r>
          </a:p>
          <a:p>
            <a:endParaRPr lang="en-US" b="1" dirty="0"/>
          </a:p>
          <a:p>
            <a:r>
              <a:rPr lang="en-US" b="1" dirty="0"/>
              <a:t>Crop management advice</a:t>
            </a:r>
            <a:endParaRPr lang="en-US" dirty="0"/>
          </a:p>
          <a:p>
            <a:r>
              <a:rPr lang="en-US" dirty="0"/>
              <a:t>Chat Input → Language Model → Pathologist Agent → Agricultural Agent → Chat Output</a:t>
            </a:r>
          </a:p>
          <a:p>
            <a:endParaRPr lang="en-US" dirty="0"/>
          </a:p>
          <a:p>
            <a:pPr marL="342900" indent="-342900">
              <a:buAutoNum type="arabicParenR" startAt="3"/>
            </a:pPr>
            <a:endParaRPr lang="en-US" dirty="0"/>
          </a:p>
          <a:p>
            <a:endParaRPr lang="en-US" dirty="0"/>
          </a:p>
          <a:p>
            <a:pPr algn="ctr"/>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7" name="Picture 6">
            <a:extLst>
              <a:ext uri="{FF2B5EF4-FFF2-40B4-BE49-F238E27FC236}">
                <a16:creationId xmlns:a16="http://schemas.microsoft.com/office/drawing/2014/main" id="{77555170-2C97-4547-81DA-78C34227FF3B}"/>
              </a:ext>
            </a:extLst>
          </p:cNvPr>
          <p:cNvPicPr>
            <a:picLocks noChangeAspect="1"/>
          </p:cNvPicPr>
          <p:nvPr/>
        </p:nvPicPr>
        <p:blipFill>
          <a:blip r:embed="rId3"/>
          <a:stretch>
            <a:fillRect/>
          </a:stretch>
        </p:blipFill>
        <p:spPr>
          <a:xfrm>
            <a:off x="184912" y="1290918"/>
            <a:ext cx="11822175" cy="5091244"/>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8" name="Google Shape;178;p7"/>
          <p:cNvPicPr preferRelativeResize="0"/>
          <p:nvPr/>
        </p:nvPicPr>
        <p:blipFill rotWithShape="1">
          <a:blip r:embed="rId3">
            <a:alphaModFix/>
          </a:blip>
          <a:srcRect/>
          <a:stretch/>
        </p:blipFill>
        <p:spPr>
          <a:xfrm>
            <a:off x="699152" y="1071448"/>
            <a:ext cx="10429095" cy="5612816"/>
          </a:xfrm>
          <a:prstGeom prst="rect">
            <a:avLst/>
          </a:prstGeom>
          <a:noFill/>
          <a:ln>
            <a:noFill/>
          </a:ln>
        </p:spPr>
      </p:pic>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185761"/>
          </a:xfrm>
          <a:prstGeom prst="rect">
            <a:avLst/>
          </a:prstGeom>
          <a:noFill/>
        </p:spPr>
        <p:txBody>
          <a:bodyPr wrap="square" rtlCol="0">
            <a:spAutoFit/>
          </a:bodyPr>
          <a:lstStyle/>
          <a:p>
            <a:r>
              <a:rPr lang="en-US" b="1" dirty="0"/>
              <a:t>Role of Agentic AI in Agri Doctor Agent</a:t>
            </a:r>
          </a:p>
          <a:p>
            <a:pPr algn="just"/>
            <a:endParaRPr lang="en-US" dirty="0"/>
          </a:p>
          <a:p>
            <a:pPr algn="just"/>
            <a:r>
              <a:rPr lang="en-US" dirty="0">
                <a:latin typeface="Times New Roman" panose="02020603050405020304" pitchFamily="18" charset="0"/>
                <a:cs typeface="Times New Roman" panose="02020603050405020304" pitchFamily="18" charset="0"/>
              </a:rPr>
              <a:t>Agentic AI enables the Agri Doctor Agent to function as an intelligent, autonomous system rather than a simple advisory chatbot. Using IBM watsonx.ai and IBM Granite models, it coordinates multiple specialized agents to deliver personalized agricultural guidance.</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Each agent performs a specific role such as retrieving crop and soil information, generating farming recommendations, diagnosing plant diseases, and monitoring farm activities while working collaboratively. This multi-agent approach ensures efficient task execution and accurate solutions.</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Agentic AI also brings context awareness, understanding factors such as crop type, soil condition, weather patterns, and farmer needs to generate tailored recommendations. It supports real-time adaptation, continuously updating suggestions based on changing farm conditions, pest outbreaks, or climate data.</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Additionally, agents communicate with each other, enabling better decision-making and improved outcomes. Overall, Agentic AI makes the system proactive, personalized, and goal-driven, acting like a smart digital agricultural expert that helps farmers improve productivity and promote sustainable farming.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401205"/>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ibm-granite-4h-small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448235" y="1207008"/>
            <a:ext cx="11630989" cy="5293757"/>
          </a:xfrm>
          <a:prstGeom prst="rect">
            <a:avLst/>
          </a:prstGeom>
          <a:noFill/>
        </p:spPr>
        <p:txBody>
          <a:bodyPr wrap="square" rtlCol="0">
            <a:spAutoFit/>
          </a:bodyPr>
          <a:lstStyle/>
          <a:p>
            <a:r>
              <a:rPr lang="en-US" sz="1800" dirty="0"/>
              <a:t>The proposed </a:t>
            </a:r>
            <a:r>
              <a:rPr lang="en-US" sz="1800" b="1" dirty="0"/>
              <a:t>Agri Doctor Agent</a:t>
            </a:r>
            <a:r>
              <a:rPr lang="en-US" sz="1800" dirty="0"/>
              <a:t> stands out by combining </a:t>
            </a:r>
            <a:r>
              <a:rPr lang="en-US" sz="1800" b="1" dirty="0"/>
              <a:t>Agentic AI, RAG, and personalized farm advisory</a:t>
            </a:r>
            <a:r>
              <a:rPr lang="en-US" sz="1800" dirty="0"/>
              <a:t> into a single intelligent system.</a:t>
            </a:r>
          </a:p>
          <a:p>
            <a:pPr>
              <a:buFont typeface="Arial" panose="020B0604020202020204" pitchFamily="34" charset="0"/>
              <a:buChar char="•"/>
            </a:pPr>
            <a:r>
              <a:rPr lang="en-US" sz="1800" b="1" dirty="0"/>
              <a:t>Multi-Agent Intelligence</a:t>
            </a:r>
            <a:r>
              <a:rPr lang="en-US" sz="1800" dirty="0"/>
              <a:t> – Instead of a single chatbot, multiple specialized agents collaborate to provide accurate and context-aware agricultural guidance. </a:t>
            </a:r>
          </a:p>
          <a:p>
            <a:pPr>
              <a:buFont typeface="Arial" panose="020B0604020202020204" pitchFamily="34" charset="0"/>
              <a:buChar char="•"/>
            </a:pPr>
            <a:r>
              <a:rPr lang="en-US" sz="1800" b="1" dirty="0"/>
              <a:t>RAG-Based Accuracy</a:t>
            </a:r>
            <a:r>
              <a:rPr lang="en-US" sz="1800" dirty="0"/>
              <a:t> – Integrates real-time agricultural knowledge retrieval with AI generation, reducing misinformation and ensuring trustworthy recommendations. </a:t>
            </a:r>
          </a:p>
          <a:p>
            <a:pPr>
              <a:buFont typeface="Arial" panose="020B0604020202020204" pitchFamily="34" charset="0"/>
              <a:buChar char="•"/>
            </a:pPr>
            <a:r>
              <a:rPr lang="en-US" sz="1800" b="1" dirty="0"/>
              <a:t>Personalized Farm Advisory</a:t>
            </a:r>
            <a:r>
              <a:rPr lang="en-US" sz="1800" dirty="0"/>
              <a:t> – Tailors recommendations based on crop type, soil conditions, weather patterns, and farmer needs. </a:t>
            </a:r>
          </a:p>
          <a:p>
            <a:pPr>
              <a:buFont typeface="Arial" panose="020B0604020202020204" pitchFamily="34" charset="0"/>
              <a:buChar char="•"/>
            </a:pPr>
            <a:r>
              <a:rPr lang="en-US" sz="1800" b="1" dirty="0"/>
              <a:t>Real-Time Adaptive Support</a:t>
            </a:r>
            <a:r>
              <a:rPr lang="en-US" sz="1800" dirty="0"/>
              <a:t> – Continuously updates suggestions based on changing farm conditions, pest outbreaks, and climate data. </a:t>
            </a:r>
          </a:p>
          <a:p>
            <a:pPr>
              <a:buFont typeface="Arial" panose="020B0604020202020204" pitchFamily="34" charset="0"/>
              <a:buChar char="•"/>
            </a:pPr>
            <a:r>
              <a:rPr lang="en-US" sz="1800" b="1" dirty="0"/>
              <a:t>Multi-Modal Input</a:t>
            </a:r>
            <a:r>
              <a:rPr lang="en-US" sz="1800" dirty="0"/>
              <a:t> – Supports text, voice, and image-based crop disease diagnosis for improved accessibility and usability. </a:t>
            </a:r>
          </a:p>
          <a:p>
            <a:pPr>
              <a:buFont typeface="Arial" panose="020B0604020202020204" pitchFamily="34" charset="0"/>
              <a:buChar char="•"/>
            </a:pPr>
            <a:r>
              <a:rPr lang="en-US" sz="1800" b="1" dirty="0"/>
              <a:t>Preventive Farming Focus</a:t>
            </a:r>
            <a:r>
              <a:rPr lang="en-US" sz="1800" dirty="0"/>
              <a:t> – Goes beyond problem-solving to provide early warnings, disease prevention, and sustainable farming practices. </a:t>
            </a:r>
          </a:p>
          <a:p>
            <a:pPr>
              <a:buFont typeface="Arial" panose="020B0604020202020204" pitchFamily="34" charset="0"/>
              <a:buChar char="•"/>
            </a:pPr>
            <a:r>
              <a:rPr lang="en-US" sz="1800" b="1" dirty="0"/>
              <a:t>Scalable &amp; Enterprise-Ready</a:t>
            </a:r>
            <a:r>
              <a:rPr lang="en-US" sz="1800" dirty="0"/>
              <a:t> – Built on </a:t>
            </a:r>
            <a:r>
              <a:rPr lang="en-US" sz="1800" b="1" dirty="0"/>
              <a:t>IBM watsonx.ai</a:t>
            </a:r>
            <a:r>
              <a:rPr lang="en-US" sz="1800" dirty="0"/>
              <a:t> with </a:t>
            </a:r>
            <a:r>
              <a:rPr lang="en-US" sz="1800" b="1" dirty="0"/>
              <a:t>IBM Granite models</a:t>
            </a:r>
            <a:r>
              <a:rPr lang="en-US" sz="1800" dirty="0"/>
              <a:t>, ensuring reliability, scalability, and AI governance. </a:t>
            </a:r>
          </a:p>
          <a:p>
            <a:r>
              <a:rPr lang="en-US" sz="1800" dirty="0"/>
              <a:t>This makes the solution a </a:t>
            </a:r>
            <a:r>
              <a:rPr lang="en-US" sz="1800" b="1" dirty="0"/>
              <a:t>smart, adaptive, and proactive digital Agri Doctor</a:t>
            </a:r>
            <a:r>
              <a:rPr lang="en-US" sz="1800" dirty="0"/>
              <a:t>, not just a static farming advisory tool.</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636494" y="1221715"/>
            <a:ext cx="10793506" cy="5412167"/>
          </a:xfrm>
          <a:prstGeom prst="rect">
            <a:avLst/>
          </a:prstGeom>
          <a:noFill/>
          <a:ln>
            <a:noFill/>
          </a:ln>
        </p:spPr>
        <p:txBody>
          <a:bodyPr spcFirstLastPara="1" wrap="square" lIns="0" tIns="0" rIns="0" bIns="0" anchor="t" anchorCtr="0">
            <a:noAutofit/>
          </a:bodyPr>
          <a:lstStyle/>
          <a:p>
            <a:pPr marL="457200" indent="-457200" algn="just">
              <a:buAutoNum type="arabicPeriod"/>
            </a:pPr>
            <a:r>
              <a:rPr lang="en-US" sz="2400" b="1" dirty="0">
                <a:latin typeface="Times New Roman" panose="02020603050405020304" pitchFamily="18" charset="0"/>
                <a:cs typeface="Times New Roman" panose="02020603050405020304" pitchFamily="18" charset="0"/>
              </a:rPr>
              <a:t>Integration with IoT Sensors and Smart Farming Devices</a:t>
            </a:r>
          </a:p>
          <a:p>
            <a:pPr algn="just"/>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The system can be integrated with soil sensors, weather stations, drones, and smart irrigation systems to collect real-time data such as soil moisture, temperature, humidity, and crop health. This will enable the Agri Doctor Agent to provide more accurate and dynamic recommendations for irrigation, fertilization, and pest management based on actual field conditions.</a:t>
            </a:r>
          </a:p>
          <a:p>
            <a:pPr marL="457200" indent="-457200" algn="just">
              <a:buAutoNum type="arabicPeriod"/>
            </a:pPr>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2. AI-Powered Voice Assistant &amp; Multilingual Support</a:t>
            </a:r>
          </a:p>
          <a:p>
            <a:pPr algn="just"/>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Enhancing the system with a voice-enabled assistant and support for multiple languages will improve accessibility for farmers. Users can interact naturally in their preferred language, making the solution more inclusive and suitable for diverse farming communities, especially in rural areas with varied linguistic backgrounds.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1470</TotalTime>
  <Words>1401</Words>
  <Application>Microsoft Office PowerPoint</Application>
  <PresentationFormat>Widescreen</PresentationFormat>
  <Paragraphs>136</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Admin</cp:lastModifiedBy>
  <cp:revision>52</cp:revision>
  <dcterms:created xsi:type="dcterms:W3CDTF">2025-07-08T05:06:56Z</dcterms:created>
  <dcterms:modified xsi:type="dcterms:W3CDTF">2026-04-29T07:23:04Z</dcterms:modified>
</cp:coreProperties>
</file>